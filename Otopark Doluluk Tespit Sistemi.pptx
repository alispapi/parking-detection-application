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  <p:embeddedFont>
      <p:font typeface="Poppins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33" Type="http://schemas.openxmlformats.org/officeDocument/2006/relationships/font" Target="fonts/Poppins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Light-bold.fntdata"/><Relationship Id="rId16" Type="http://schemas.openxmlformats.org/officeDocument/2006/relationships/font" Target="fonts/InterLight-regular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3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8965" y="581025"/>
            <a:ext cx="4412009" cy="569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63166"/>
            <a:ext cx="20764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2267991"/>
            <a:ext cx="6948837" cy="15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Otopark Doluluk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Tespit Sistemi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0738" y="4285502"/>
            <a:ext cx="6389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Ali Ege Önal 22196354</a:t>
            </a:r>
            <a:endParaRPr sz="1800">
              <a:solidFill>
                <a:srgbClr val="64748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Cafer Köşker 22493217</a:t>
            </a:r>
            <a:endParaRPr sz="1800">
              <a:solidFill>
                <a:srgbClr val="64748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9" name="Google Shape;89;p13"/>
          <p:cNvSpPr/>
          <p:nvPr/>
        </p:nvSpPr>
        <p:spPr>
          <a:xfrm flipH="1">
            <a:off x="646500" y="4285550"/>
            <a:ext cx="38100" cy="748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57375"/>
            <a:ext cx="5133974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857375"/>
            <a:ext cx="5133975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2240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2725" y="3243274"/>
            <a:ext cx="457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Projenin Amacı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13" y="3800787"/>
            <a:ext cx="43530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Sabit kamera görüntüleri üzerinden otopark alanlarını analiz etmek. Boş ve dolu alanları </a:t>
            </a:r>
            <a:r>
              <a:rPr b="1" i="0" lang="en-US" sz="17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gerçek zamanlı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olarak tespit edip kullanıcıya sunmak.</a:t>
            </a:r>
            <a:endParaRPr sz="1600"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7525" y="22240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867525" y="3207699"/>
            <a:ext cx="457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Kullanılan Yöntem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67488" y="3800787"/>
            <a:ext cx="4353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Ağır derin öğrenme modelleri yerine, </a:t>
            </a:r>
            <a:r>
              <a:rPr b="1" i="0" lang="en-US" sz="17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Görüntü İşleme (Image Processing)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teknikleri tercih edilmiştir. Piksel yoğunluğu analizi ile hızlı ve verimli sonuç üretilir.</a:t>
            </a:r>
            <a:endParaRPr sz="1600"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 Genel Bakış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8032"/>
            <a:ext cx="2543175" cy="247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828032"/>
            <a:ext cx="2543175" cy="247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828032"/>
            <a:ext cx="2543175" cy="247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828032"/>
            <a:ext cx="2543175" cy="247828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27471" y="3980557"/>
            <a:ext cx="22502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81050" y="4504432"/>
            <a:ext cx="2143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 Geliştirme Dili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556396" y="3980557"/>
            <a:ext cx="22502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OpenCV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609975" y="4504432"/>
            <a:ext cx="2143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Görüntü İşleme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385321" y="3980557"/>
            <a:ext cx="22502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NumPy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38900" y="4504432"/>
            <a:ext cx="2143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Matris İşlemleri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214246" y="3980557"/>
            <a:ext cx="22502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CvZone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67825" y="4504432"/>
            <a:ext cx="21431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Görselleştirme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43062" y="325665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4837" y="325665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29487" y="325665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72687" y="325665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Teknoloji Yığını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2412503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412503"/>
            <a:ext cx="51339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81025" y="1857375"/>
            <a:ext cx="1514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counter(steps)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52525" y="1857375"/>
            <a:ext cx="4790598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Gri Tonlama (Grayscale)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52525" y="2468760"/>
            <a:ext cx="4562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Renk verisi işlem yükü oluşturur. Görüntü gri tona çevrilerek boyut azaltılır.</a:t>
            </a:r>
            <a:endParaRPr sz="1600"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3497460"/>
            <a:ext cx="1514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counter(steps)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52525" y="3497460"/>
            <a:ext cx="4790598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Gaussian Blur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52525" y="4108846"/>
            <a:ext cx="4562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Görüntüdeki keskin kenarlar ve gürültüler yumuşatılır.</a:t>
            </a:r>
            <a:endParaRPr sz="1600"/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5137546"/>
            <a:ext cx="1514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counter(steps)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52525" y="5137546"/>
            <a:ext cx="4790598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Adaptive Threshold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52525" y="5748932"/>
            <a:ext cx="4562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Görüntü tamamen </a:t>
            </a:r>
            <a:r>
              <a:rPr b="1" i="0" lang="en-US" sz="17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Siyah &amp; Beyaz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(Binary) hale getirilir. Araçlar beyaz, zemin siyah olur.</a:t>
            </a:r>
            <a:endParaRPr sz="1600"/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Adım 1: Ön İşleme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57375"/>
            <a:ext cx="5133975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857375"/>
            <a:ext cx="513397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009650" y="3148012"/>
            <a:ext cx="45305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Median Blur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09650" y="3824287"/>
            <a:ext cx="43149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Eşikleme sonrası oluşan küçük piksel hatalarını ("tuz-biber" gürültüsü) temizler. Yanlış pozitif sonuçları engeller.</a:t>
            </a:r>
            <a:endParaRPr sz="1600"/>
          </a:p>
        </p:txBody>
      </p:sp>
      <p:sp>
        <p:nvSpPr>
          <p:cNvPr id="155" name="Google Shape;155;p17"/>
          <p:cNvSpPr txBox="1"/>
          <p:nvPr/>
        </p:nvSpPr>
        <p:spPr>
          <a:xfrm>
            <a:off x="6905625" y="3148012"/>
            <a:ext cx="45305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Dilation (Genişletme)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905625" y="3824287"/>
            <a:ext cx="43149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Beyaz piksellerin alanını genişletir. Aracın camı gibi siyah görünen kısımları doldurarak aracı tek bir blok olarak algılamayı sağlar.</a:t>
            </a:r>
            <a:endParaRPr sz="1600"/>
          </a:p>
        </p:txBody>
      </p:sp>
      <p:sp>
        <p:nvSpPr>
          <p:cNvPr id="157" name="Google Shape;157;p17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Adım 2: Gürültü Temizleme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81275"/>
            <a:ext cx="110299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066800" y="3495675"/>
            <a:ext cx="2190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3B82F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900</a:t>
            </a:r>
            <a:endParaRPr sz="8500"/>
          </a:p>
        </p:txBody>
      </p:sp>
      <p:sp>
        <p:nvSpPr>
          <p:cNvPr id="166" name="Google Shape;166;p18"/>
          <p:cNvSpPr txBox="1"/>
          <p:nvPr/>
        </p:nvSpPr>
        <p:spPr>
          <a:xfrm>
            <a:off x="3829050" y="3067050"/>
            <a:ext cx="6880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Piksel Eşik Değeri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829050" y="3714750"/>
            <a:ext cx="655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Her park kutucuğundaki </a:t>
            </a:r>
            <a:r>
              <a:rPr b="1" i="0" lang="en-US" sz="17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beyaz piksel sayısı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sayılır ().</a:t>
            </a:r>
            <a:endParaRPr sz="1600"/>
          </a:p>
        </p:txBody>
      </p:sp>
      <p:sp>
        <p:nvSpPr>
          <p:cNvPr id="168" name="Google Shape;168;p18"/>
          <p:cNvSpPr txBox="1"/>
          <p:nvPr/>
        </p:nvSpPr>
        <p:spPr>
          <a:xfrm>
            <a:off x="3829050" y="4229100"/>
            <a:ext cx="65532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&lt; 900 Piksel: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Boş Alan (Yeşil)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&gt; 900 Piksel: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Dolu Alan (Kırmızı)</a:t>
            </a:r>
            <a:endParaRPr sz="1600"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175" y="3729038"/>
            <a:ext cx="1771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Karar Mekanizması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3012" y="21621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3920350"/>
            <a:ext cx="5133974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4910137"/>
            <a:ext cx="51339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6477000" y="2443162"/>
            <a:ext cx="539067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Manuel Park Yeri Çizimi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477000" y="3005137"/>
            <a:ext cx="5133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 dinamiktir. Park yerleri sabit kodlanmaz, kullanıcı arayüz üzerinden belirler.</a:t>
            </a:r>
            <a:endParaRPr sz="1600"/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8262" y="225742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677025" y="4136350"/>
            <a:ext cx="139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Sol Tık</a:t>
            </a:r>
            <a:endParaRPr sz="1600"/>
          </a:p>
        </p:txBody>
      </p:sp>
      <p:sp>
        <p:nvSpPr>
          <p:cNvPr id="184" name="Google Shape;184;p19"/>
          <p:cNvSpPr txBox="1"/>
          <p:nvPr/>
        </p:nvSpPr>
        <p:spPr>
          <a:xfrm>
            <a:off x="6677025" y="5110125"/>
            <a:ext cx="11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Sağ Tık</a:t>
            </a:r>
            <a:endParaRPr sz="1600"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Kullanıcı Etkileşimi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686175"/>
            <a:ext cx="47625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771525" y="3971925"/>
            <a:ext cx="4000500" cy="2339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62025" y="4067175"/>
            <a:ext cx="4200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Sonuç Ekranı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62025" y="4714875"/>
            <a:ext cx="40005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Sistem, </a:t>
            </a:r>
            <a:r>
              <a:rPr lang="en-US" sz="17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görsel </a:t>
            </a: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üzerinde anlık olarak kutuları renklendirir.</a:t>
            </a:r>
            <a:endParaRPr sz="1600"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5611875"/>
            <a:ext cx="6191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8075" y="5611875"/>
            <a:ext cx="7334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95600"/>
            <a:ext cx="34861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95600"/>
            <a:ext cx="34861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895600"/>
            <a:ext cx="34861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03897" y="3286125"/>
            <a:ext cx="32404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mouseClick()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781050" y="3800475"/>
            <a:ext cx="30861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781050" y="4010025"/>
            <a:ext cx="30861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Kullanıcı etkileşimlerini (tıklamaları) yöneten fonksiyon.</a:t>
            </a:r>
            <a:endParaRPr sz="1600"/>
          </a:p>
        </p:txBody>
      </p:sp>
      <p:sp>
        <p:nvSpPr>
          <p:cNvPr id="209" name="Google Shape;209;p21"/>
          <p:cNvSpPr txBox="1"/>
          <p:nvPr/>
        </p:nvSpPr>
        <p:spPr>
          <a:xfrm>
            <a:off x="4475797" y="3286125"/>
            <a:ext cx="32404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Main Loop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4552950" y="3800475"/>
            <a:ext cx="30861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552950" y="4010025"/>
            <a:ext cx="30861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Sonsuz döngü içinde video karesini okur ve işler.</a:t>
            </a:r>
            <a:endParaRPr sz="1600"/>
          </a:p>
        </p:txBody>
      </p:sp>
      <p:sp>
        <p:nvSpPr>
          <p:cNvPr id="212" name="Google Shape;212;p21"/>
          <p:cNvSpPr txBox="1"/>
          <p:nvPr/>
        </p:nvSpPr>
        <p:spPr>
          <a:xfrm>
            <a:off x="8247697" y="3286125"/>
            <a:ext cx="32404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checkSpace()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8324850" y="3800475"/>
            <a:ext cx="30861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324850" y="4010025"/>
            <a:ext cx="30861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Görüntü işleme ve piksel sayma işleminin yapıldığı ana fonksiyon.</a:t>
            </a:r>
            <a:endParaRPr sz="1600"/>
          </a:p>
        </p:txBody>
      </p:sp>
      <p:sp>
        <p:nvSpPr>
          <p:cNvPr id="215" name="Google Shape;215;p21"/>
          <p:cNvSpPr txBox="1"/>
          <p:nvPr/>
        </p:nvSpPr>
        <p:spPr>
          <a:xfrm>
            <a:off x="581025" y="58102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Kod Yapısı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81025" y="1524000"/>
            <a:ext cx="571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625" y="992534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812" y="1421159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4481735" y="2802284"/>
            <a:ext cx="32285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Sorular?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329112" y="4722759"/>
            <a:ext cx="35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Dinlediğiniz için teşekkürler.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